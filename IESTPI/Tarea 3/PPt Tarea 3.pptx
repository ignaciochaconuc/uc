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64" r:id="rId5"/>
    <p:sldId id="268" r:id="rId6"/>
    <p:sldId id="267" r:id="rId7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40" autoAdjust="0"/>
  </p:normalViewPr>
  <p:slideViewPr>
    <p:cSldViewPr snapToGrid="0">
      <p:cViewPr varScale="1">
        <p:scale>
          <a:sx n="104" d="100"/>
          <a:sy n="104" d="100"/>
        </p:scale>
        <p:origin x="870" y="108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Marcador de posición de fecha 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FF95820-84BB-3447-8286-60A51307E7F2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4" name="Marcador de posición de pie de página 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E476440-F66F-F947-8EFC-EA5202ACFD2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Marcador de posición de fecha 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C08FC54-6AE4-6A4A-9756-823A0F1BE5A6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4" name="Marcador de posición de imagen de diapositiva 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B79E9EB-07EB-9D44-9F5A-AB1FBECCDD8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bre 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9" name="Título 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rtlCol="0" anchor="ctr"/>
          <a:lstStyle>
            <a:lvl1pPr algn="ctr">
              <a:defRPr sz="5400" spc="30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3" name="Subtítulo 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 rtlCol="0"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/>
              <a:t>Haga clic para modificar el estilo de subtítulo del patrón</a:t>
            </a:r>
            <a:endParaRPr lang="es"/>
          </a:p>
        </p:txBody>
      </p:sp>
      <p:sp>
        <p:nvSpPr>
          <p:cNvPr id="14" name="Rectángulo 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con derechos d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bre: Forma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2" name="Título 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 rtlCol="0"/>
          <a:lstStyle>
            <a:lvl1pPr>
              <a:defRPr sz="3200" spc="30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 rtlCol="0"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75DF2D63-3FF5-D547-96B9-BE9CCD1ABA58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3" name="Conector recto 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rtlCol="0" anchor="ctr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 rtlCol="0"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/>
              <a:t>Haga clic para modificar el estilo de subtítulo del patrón</a:t>
            </a:r>
            <a:endParaRPr lang="es"/>
          </a:p>
        </p:txBody>
      </p:sp>
      <p:sp>
        <p:nvSpPr>
          <p:cNvPr id="7" name="Marcador de posición de imagen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rma libre 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rtlCol="0" anchor="b"/>
          <a:lstStyle>
            <a:lvl1pPr algn="ctr">
              <a:defRPr sz="54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/>
              <a:t>Haga clic para modificar el estilo de subtítulo del patrón</a:t>
            </a:r>
            <a:endParaRPr lang="es"/>
          </a:p>
        </p:txBody>
      </p:sp>
      <p:sp>
        <p:nvSpPr>
          <p:cNvPr id="16" name="Rectángulo 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 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 rtlCol="0"/>
          <a:lstStyle>
            <a:lvl1pPr>
              <a:defRPr sz="3200" spc="3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8" name="Marcador de posición de imagen 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3" name="Marcador de posición de contenido 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 rtlCol="0"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6" name="Cuadro de texto 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endParaRPr lang="en-US" dirty="0"/>
          </a:p>
        </p:txBody>
      </p:sp>
      <p:sp>
        <p:nvSpPr>
          <p:cNvPr id="9" name="Marcador de posición de número de diapositiva 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75DF2D63-3FF5-D547-96B9-BE9CCD1ABA58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5" name="Conector recto 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 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rtlCol="0" anchor="ctr"/>
          <a:lstStyle>
            <a:lvl1pPr algn="ctr">
              <a:defRPr sz="54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image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rtlCol="0" anchor="b" anchorCtr="0"/>
          <a:lstStyle>
            <a:lvl1pPr>
              <a:defRPr sz="32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9" name="Marcador de posición de imagen 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3" name="Marcador de posición de contenido 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rtlCol="0"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7" name="Marcador de posición de número de diapositiva 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Conector recto 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zul cla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rtlCol="0" anchor="t" anchorCtr="0"/>
          <a:lstStyle>
            <a:lvl1pPr>
              <a:defRPr sz="32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 rtlCol="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 rtlCol="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7" name="Marcador de posición de número de diapositiva 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Conector recto 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número de diapositiva 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rtlCol="0" anchor="t" anchorCtr="0"/>
          <a:lstStyle>
            <a:lvl1pPr>
              <a:defRPr sz="32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 rtlCol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10" name="Marcador de contenido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 rtlCol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cxnSp>
        <p:nvCxnSpPr>
          <p:cNvPr id="11" name="Conector recto 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 blan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número de diapositiva 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rtlCol="0" anchor="t" anchorCtr="0"/>
          <a:lstStyle>
            <a:lvl1pPr>
              <a:defRPr sz="32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 rtlCol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10" name="Marcador de contenido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 rtlCol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cxnSp>
        <p:nvCxnSpPr>
          <p:cNvPr id="11" name="Conector recto 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número de diapositiva 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rtlCol="0" anchor="t" anchorCtr="0"/>
          <a:lstStyle>
            <a:lvl1pPr>
              <a:defRPr sz="32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8" name="Marcador de posición de tabla 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-ES"/>
              <a:t>Haga clic en el icono para agregar una tabla</a:t>
            </a:r>
            <a:endParaRPr lang="en-US" dirty="0"/>
          </a:p>
        </p:txBody>
      </p:sp>
      <p:cxnSp>
        <p:nvCxnSpPr>
          <p:cNvPr id="7" name="Conector recto 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ver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rtlCol="0" anchor="t" anchorCtr="0"/>
          <a:lstStyle>
            <a:lvl1pPr>
              <a:defRPr sz="32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 rtlCol="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 rtlCol="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7" name="Marcador de posición de número de diapositiva 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Conector recto 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er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rtlCol="0" anchor="ctr">
            <a:noAutofit/>
          </a:bodyPr>
          <a:lstStyle>
            <a:lvl1pPr algn="ctr">
              <a:defRPr sz="54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1" name="Marcador de posición de imagen 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rtlCol="0"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3" name="Marcador de posición de texto 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rtlCol="0"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3" name="Rectángulo 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 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rtl="0"/>
            <a:r>
              <a:rPr lang="es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21" name="Marcador de número de diapositiva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pPr rtl="0"/>
            <a:fld id="{75DF2D63-3FF5-D547-96B9-BE9CCD1ABA58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 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rtlCol="0" anchor="t" anchorCtr="0"/>
          <a:lstStyle/>
          <a:p>
            <a:pPr rtl="0"/>
            <a:r>
              <a:rPr lang="es" dirty="0"/>
              <a:t>Calculo de eficiencia óptica y temperatura de estancamiento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C9D690C-219B-26FB-CB06-C3D7E3188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826" y="2011680"/>
            <a:ext cx="4249116" cy="271712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C21B6B2-1F82-0E36-47F6-840437B4D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548" y="4846321"/>
            <a:ext cx="4689394" cy="1200943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616424B-68BB-3817-5240-550A7CB0EE1A}"/>
              </a:ext>
            </a:extLst>
          </p:cNvPr>
          <p:cNvSpPr txBox="1"/>
          <p:nvPr/>
        </p:nvSpPr>
        <p:spPr>
          <a:xfrm>
            <a:off x="461818" y="2290618"/>
            <a:ext cx="604981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Para la curva se llegó a un a1 = 2.1203 W/m^2 K, a2 = 0.068 W/m^2 K^2 y eficiencia óptica de 50.59%</a:t>
            </a:r>
          </a:p>
          <a:p>
            <a:endParaRPr lang="es-CL" dirty="0"/>
          </a:p>
          <a:p>
            <a:r>
              <a:rPr lang="es-CL" dirty="0"/>
              <a:t>El coeficiente de determinación es igual a 0.9152</a:t>
            </a:r>
          </a:p>
          <a:p>
            <a:endParaRPr lang="es-CL" dirty="0"/>
          </a:p>
          <a:p>
            <a:r>
              <a:rPr lang="es-CL" dirty="0"/>
              <a:t>Error cuadrático medio = 0.0249</a:t>
            </a:r>
          </a:p>
          <a:p>
            <a:endParaRPr lang="es-CL" dirty="0"/>
          </a:p>
          <a:p>
            <a:r>
              <a:rPr lang="es-CL" dirty="0"/>
              <a:t>Temperatura de estancamiento con condición ISO es igual a 101.97°C</a:t>
            </a:r>
          </a:p>
          <a:p>
            <a:endParaRPr lang="es-CL" dirty="0"/>
          </a:p>
          <a:p>
            <a:r>
              <a:rPr lang="es-CL" dirty="0"/>
              <a:t>Temperatura de estancamiento experimental con </a:t>
            </a:r>
            <a:r>
              <a:rPr lang="es-CL"/>
              <a:t>el percentil 95 = 95.52°C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 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  <a:noFill/>
        </p:spPr>
        <p:txBody>
          <a:bodyPr rtlCol="0" anchor="t" anchorCtr="0"/>
          <a:lstStyle/>
          <a:p>
            <a:pPr rtl="0"/>
            <a:r>
              <a:rPr lang="es" dirty="0"/>
              <a:t>Calculo de IAM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1FB90A2-A5CA-2072-F2CB-00C84C7EA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09" y="2150531"/>
            <a:ext cx="4312470" cy="34673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F6453E7-7DB1-7C49-4646-6C17210AC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007657"/>
            <a:ext cx="6102986" cy="378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 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  <a:noFill/>
        </p:spPr>
        <p:txBody>
          <a:bodyPr rtlCol="0" anchor="t" anchorCtr="0"/>
          <a:lstStyle/>
          <a:p>
            <a:pPr rtl="0"/>
            <a:r>
              <a:rPr lang="es" dirty="0"/>
              <a:t>Dimensionamiento del campo solar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4DB8540-81A4-2BE5-905C-764F28F49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446" y="2344189"/>
            <a:ext cx="7680407" cy="308679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E9993A8-64E0-0755-D8A4-E0359E7CF352}"/>
              </a:ext>
            </a:extLst>
          </p:cNvPr>
          <p:cNvSpPr txBox="1"/>
          <p:nvPr/>
        </p:nvSpPr>
        <p:spPr>
          <a:xfrm>
            <a:off x="544944" y="2687256"/>
            <a:ext cx="3205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Para una fracción solar de 60% necesitaríamos 70 colectores solares, lo que lleva a un área aproximada de 135,52 m^</a:t>
            </a:r>
          </a:p>
        </p:txBody>
      </p:sp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7061901_Win32" id="{7A6CA922-C1D9-482C-B15B-F7A7EC79E65C}" vid="{DA8A4E24-E4ED-4BF4-A133-37E5B38047FB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{5014EB50-F369-469D-97F4-072C3CB754AA}TF51de1e5f-e0e8-4dd0-99f3-5b7584f7abdca4fd2b66_win32-7af6a4d5085b</Template>
  <TotalTime>11</TotalTime>
  <Words>109</Words>
  <Application>Microsoft Office PowerPoint</Application>
  <PresentationFormat>Panorámica</PresentationFormat>
  <Paragraphs>13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Arial</vt:lpstr>
      <vt:lpstr>Calibri</vt:lpstr>
      <vt:lpstr>Courier New</vt:lpstr>
      <vt:lpstr>Daytona Condensed Light</vt:lpstr>
      <vt:lpstr>Posterama</vt:lpstr>
      <vt:lpstr>Personalizar</vt:lpstr>
      <vt:lpstr>Calculo de eficiencia óptica y temperatura de estancamiento</vt:lpstr>
      <vt:lpstr>Calculo de IAM</vt:lpstr>
      <vt:lpstr>Dimensionamiento del campo solar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machaconl@hotmail.com</dc:creator>
  <cp:lastModifiedBy>machaconl@hotmail.com</cp:lastModifiedBy>
  <cp:revision>1</cp:revision>
  <dcterms:created xsi:type="dcterms:W3CDTF">2026-05-05T02:19:04Z</dcterms:created>
  <dcterms:modified xsi:type="dcterms:W3CDTF">2026-05-05T02:30:17Z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